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4" r:id="rId2"/>
    <p:sldId id="275" r:id="rId3"/>
    <p:sldId id="284" r:id="rId4"/>
    <p:sldId id="280" r:id="rId5"/>
    <p:sldId id="281" r:id="rId6"/>
    <p:sldId id="282" r:id="rId7"/>
    <p:sldId id="285" r:id="rId8"/>
    <p:sldId id="283" r:id="rId9"/>
    <p:sldId id="287" r:id="rId10"/>
    <p:sldId id="288" r:id="rId11"/>
    <p:sldId id="290" r:id="rId12"/>
    <p:sldId id="289" r:id="rId13"/>
    <p:sldId id="28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58"/>
  </p:normalViewPr>
  <p:slideViewPr>
    <p:cSldViewPr snapToGrid="0">
      <p:cViewPr>
        <p:scale>
          <a:sx n="92" d="100"/>
          <a:sy n="92" d="100"/>
        </p:scale>
        <p:origin x="1600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7F99F-6B75-4878-9D98-7E38815E996F}" type="datetimeFigureOut">
              <a:rPr lang="en-IN" smtClean="0"/>
              <a:t>28/04/25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03559-3DCD-48B5-9E7D-AC203BE1C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86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A171E-2F70-A82B-144E-25F71AC95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57D12A-4B61-B022-5F99-1FFE3D677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ACC33-1723-3909-5D0E-F18C2D58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8DBF-9F4D-40A2-B973-E2136915AEC7}" type="datetimeFigureOut">
              <a:rPr lang="en-IN" smtClean="0"/>
              <a:t>28/04/25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3519F-AF86-E95B-11FC-D695B87F5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41DA2-AEED-67DA-0B13-9C0D214C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7A40A-951F-4C61-B691-64D333FDF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397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4F17C-F9BC-5148-7DDE-C85617B22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EB2F3-1C8B-8B67-3CC2-CD14E0DF8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9756F-A5B0-1065-BB1D-7A9D8312D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8DBF-9F4D-40A2-B973-E2136915AEC7}" type="datetimeFigureOut">
              <a:rPr lang="en-IN" smtClean="0"/>
              <a:t>28/04/25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06366-9054-0DA5-CFBA-3D1B7A1C4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678C2-C256-224A-BD9F-9293595F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7A40A-951F-4C61-B691-64D333FDF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202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4509C-7D34-19BD-8C16-F9B8C9462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B22E1-0952-8AC1-5667-DA6DE00EB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262FB-6113-A92D-FEB9-DF22E8BC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8DBF-9F4D-40A2-B973-E2136915AEC7}" type="datetimeFigureOut">
              <a:rPr lang="en-IN" smtClean="0"/>
              <a:t>28/04/25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6E8B4-099F-B62E-DEBA-0E14CF95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E4BE3-62DA-2F90-DC16-F69393ED4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7A40A-951F-4C61-B691-64D333FDF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65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5B04-E9E2-9FEF-1459-967B39B04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6A385-EFFD-45D5-C2C8-2B4112D5D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E2548-79C0-7135-9929-1FFCF9938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B7067-5124-AA33-FB01-741DC8BF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8DBF-9F4D-40A2-B973-E2136915AEC7}" type="datetimeFigureOut">
              <a:rPr lang="en-IN" smtClean="0"/>
              <a:t>28/04/25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3EABA-6B75-1CEA-1A06-6DB6AB794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5D0D7-F574-93F6-B948-B2BBD636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7A40A-951F-4C61-B691-64D333FDF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7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A3BFC-ABC1-5217-AA2B-E2D39F29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2131D-9A66-4922-9182-0A16E8EBF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0F404-CD39-4E87-D866-CAF78B6CE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05EFC0-1566-15D3-BE0A-FB72D70AD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60A72-E7B3-B9F6-D11D-0BA4B20F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A1970F-7750-DCC0-DA4D-EA8026219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8DBF-9F4D-40A2-B973-E2136915AEC7}" type="datetimeFigureOut">
              <a:rPr lang="en-IN" smtClean="0"/>
              <a:t>28/04/25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5EBDA-C165-5C1B-D82E-68E8ED63A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AC6438-A67F-DC24-974B-9019ECA2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7A40A-951F-4C61-B691-64D333FDF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294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DD085-19F1-6033-A683-40F3EB01E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C352A2-8398-A903-21D7-4326F182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8DBF-9F4D-40A2-B973-E2136915AEC7}" type="datetimeFigureOut">
              <a:rPr lang="en-IN" smtClean="0"/>
              <a:t>28/04/25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C65DFE-EE74-15FB-3E2F-4B1F47AD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A6F69-9322-1C61-D018-11A699190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7A40A-951F-4C61-B691-64D333FDF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392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5C532-ABF8-C224-7636-F63D4F221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8DBF-9F4D-40A2-B973-E2136915AEC7}" type="datetimeFigureOut">
              <a:rPr lang="en-IN" smtClean="0"/>
              <a:t>28/04/25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BC97CB-E1CF-24E9-AFDE-A2A880402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9585C-DC14-EC6E-6FBE-A4096C65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7A40A-951F-4C61-B691-64D333FDF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910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E41A6-6363-9D2D-A11D-542656CFE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26B3C-D911-3172-F0DD-1BB2178DE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05CE9-EDA5-59E6-EB51-508973FF6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9F292-22DF-C452-5560-571A8869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8DBF-9F4D-40A2-B973-E2136915AEC7}" type="datetimeFigureOut">
              <a:rPr lang="en-IN" smtClean="0"/>
              <a:t>28/04/25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00606-93C9-F273-A319-E678C8B36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D215C-C426-6053-8061-2BB2D843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7A40A-951F-4C61-B691-64D333FDF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47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DB8D7-5872-1146-16C8-76D81630D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9DFCD8-3FAE-3AE0-ED12-FB5E96BCE8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8DD0B-CC6C-D8D3-5493-CD249717A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A06AB-AD39-BCF7-F7AC-3876588A9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8DBF-9F4D-40A2-B973-E2136915AEC7}" type="datetimeFigureOut">
              <a:rPr lang="en-IN" smtClean="0"/>
              <a:t>28/04/25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8EEF6-CD67-2E90-8C22-2ABF78B1D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03F78-4F52-7AFF-A31C-314805C4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7A40A-951F-4C61-B691-64D333FDF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903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3A8CD-BB7A-12A4-3D5B-299AC758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47C586-2CFE-DE06-A48D-7334B3698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4931E-5352-77CC-25B3-039C6AF3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8DBF-9F4D-40A2-B973-E2136915AEC7}" type="datetimeFigureOut">
              <a:rPr lang="en-IN" smtClean="0"/>
              <a:t>28/04/25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A5132-9DF1-F6E3-DB6F-E3AF63CCF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973F8-3D59-F122-ECAD-0C673553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7A40A-951F-4C61-B691-64D333FDF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66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2813F2-127F-AA36-BB89-BA0827714A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29ED10-1A98-9211-18DF-0D31D0E71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63A1E-23BF-5435-F184-A26DABD8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8DBF-9F4D-40A2-B973-E2136915AEC7}" type="datetimeFigureOut">
              <a:rPr lang="en-IN" smtClean="0"/>
              <a:t>28/04/25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7E954-75FF-DBA8-8082-192144789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616B7-86F2-A39B-2D35-BDB9A40DE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7A40A-951F-4C61-B691-64D333FDF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982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BA4CE7-9C30-DDC1-7FE2-CE07483EF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59F98-A4E3-7ADE-1259-C9643BDAB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85A55-47F9-DFD2-E672-232DAEE3C3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158DBF-9F4D-40A2-B973-E2136915AEC7}" type="datetimeFigureOut">
              <a:rPr lang="en-IN" smtClean="0"/>
              <a:t>28/04/25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F50E5-CABA-93E6-A3B8-C99DEA61A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BE41A-437D-A724-62E8-CC61E2C2D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7A40A-951F-4C61-B691-64D333FDF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96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B11A0-FC00-DCDF-EAE6-EABE795E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D737ED-909F-4C40-1619-510DB2AFA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701" y="2203131"/>
            <a:ext cx="9522597" cy="16675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Sales Management System</a:t>
            </a:r>
            <a:br>
              <a:rPr lang="en-US" sz="4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EDS6397 – Database Management Tools</a:t>
            </a:r>
            <a:br>
              <a:rPr lang="en-US" sz="2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- 1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5A3E0C8-2C60-59B0-7BCF-24730F756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7208" y="5016610"/>
            <a:ext cx="2194050" cy="106913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41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E9ED3-0412-3AD7-52F3-B37E19A47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582BF-DFBC-F509-1348-E6074197E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9785" y="2386037"/>
            <a:ext cx="3907972" cy="3683358"/>
          </a:xfrm>
        </p:spPr>
        <p:txBody>
          <a:bodyPr anchor="ctr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Chandana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Obulampalli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Bhanu Prakash Ramineni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Greeshma Geethika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Rampam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 Karthikeya S B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Shanmukha Sai Vemulapalli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22BE21-EA9B-7F9A-E4E7-B3372053B727}"/>
              </a:ext>
            </a:extLst>
          </p:cNvPr>
          <p:cNvSpPr txBox="1"/>
          <p:nvPr/>
        </p:nvSpPr>
        <p:spPr>
          <a:xfrm>
            <a:off x="1371599" y="2079172"/>
            <a:ext cx="4539343" cy="3702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Anudeep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Bathina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Shashank Arjun Dandu</a:t>
            </a:r>
          </a:p>
          <a:p>
            <a:pPr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Abhinandhan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Gangula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Pravallika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Kilari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Ananya Kura</a:t>
            </a:r>
          </a:p>
          <a:p>
            <a:pPr>
              <a:lnSpc>
                <a:spcPct val="200000"/>
              </a:lnSpc>
            </a:pPr>
            <a:endParaRPr lang="en-IN" sz="2000" dirty="0"/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18A61471-946F-B909-0C09-20D90318B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305" y="5398447"/>
            <a:ext cx="2194050" cy="106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61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6F15D-DFC4-0EDC-50E0-1B1F8CEA2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0993645-25C6-FEDB-6765-39D53E6B0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64BE69-4541-D8AC-298D-B74BEEB48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4B74ED-41A9-6CC4-F30F-BF0A3C3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049A85-C90A-EDA3-7E9B-F4ED2095C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13C209-FE58-263A-81C6-3A24F0D32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6B709-6435-12FE-0232-DFA5B265E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05C24117-2268-3216-473D-B6529456B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305" y="5398447"/>
            <a:ext cx="2194050" cy="106913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97BFE54-725C-7076-08CD-83C722475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305" y="1673104"/>
            <a:ext cx="8646648" cy="4794477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way to interact with Real Estate properties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experience for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Listings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Rentals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designed to ensure security, traceability and User-friendliness at every step of real estate journey.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388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352558-B322-AF37-8902-18F1C3292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F258B3B-0C2F-8625-5D08-3445EBE6A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A26ABC-E9FD-8BB4-E5EC-4C774F81C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2A8CB1-AAEE-2C8E-D802-74FFCF91A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2DD679-294B-1711-5D30-20BC61776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0B4A56-C623-3CAA-53BE-F33B81D20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7ADE8-4439-9413-F3CC-8B824927D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Rules 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B07BCD-B56E-9E2B-3AE0-99DE1BDED47A}"/>
              </a:ext>
            </a:extLst>
          </p:cNvPr>
          <p:cNvSpPr txBox="1">
            <a:spLocks/>
          </p:cNvSpPr>
          <p:nvPr/>
        </p:nvSpPr>
        <p:spPr>
          <a:xfrm>
            <a:off x="691241" y="1789316"/>
            <a:ext cx="10809514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Font typeface="Arial" panose="020B0604020202020204" pitchFamily="34" charset="0"/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Each user must have a unique email address for identification and login purposes.</a:t>
            </a:r>
            <a:endParaRPr lang="en-IN" sz="16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Passwords must be securely stored using a strong hashing algorithm </a:t>
            </a:r>
            <a:endParaRPr lang="en-IN" sz="16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role field must clearly define user access (Buyer, Seller, Agent, Admin), and user roles control permissions across the system.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IN" sz="16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Property Listings Table (Property Management)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</a:pPr>
            <a:r>
              <a:rPr lang="en-IN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Only users with Seller or Agent role can Create , Modify and Delete property listings.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</a:pPr>
            <a:r>
              <a:rPr lang="en-IN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Each property must have a valid </a:t>
            </a:r>
            <a:r>
              <a:rPr lang="en-IN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user_id</a:t>
            </a:r>
            <a:r>
              <a:rPr lang="en-IN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from the user table, ensuring ownership is traceable.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</a:pPr>
            <a:r>
              <a:rPr lang="en-IN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Each Property must have a valid </a:t>
            </a:r>
            <a:r>
              <a:rPr lang="en-IN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property_status</a:t>
            </a:r>
            <a:r>
              <a:rPr lang="en-IN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(Available, Hold and Sold)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IN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3. Property Image Table (Property Images)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</a:pPr>
            <a:r>
              <a:rPr lang="en-IN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Each property should have at least one associated image (</a:t>
            </a:r>
            <a:r>
              <a:rPr lang="en-IN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image_url</a:t>
            </a:r>
            <a:r>
              <a:rPr lang="en-IN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</a:pPr>
            <a:r>
              <a:rPr lang="en-IN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The </a:t>
            </a:r>
            <a:r>
              <a:rPr lang="en-IN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propertyimage_id</a:t>
            </a:r>
            <a:r>
              <a:rPr lang="en-IN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must link to an existing entry in </a:t>
            </a:r>
            <a:r>
              <a:rPr lang="en-IN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property_listings</a:t>
            </a:r>
            <a:r>
              <a:rPr lang="en-IN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endParaRPr lang="en-IN" sz="16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endParaRPr lang="en-IN" sz="16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9" name="Content Placeholder 2">
            <a:extLst>
              <a:ext uri="{FF2B5EF4-FFF2-40B4-BE49-F238E27FC236}">
                <a16:creationId xmlns:a16="http://schemas.microsoft.com/office/drawing/2014/main" id="{8696BDE2-D8B1-AA24-2F95-25B23CCCE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7208" y="5287917"/>
            <a:ext cx="2194050" cy="106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28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AEFF51-BDAE-7786-9D64-68B6A941D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2BDCC2A-7D82-7118-20BA-B0301778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E874EC0-4416-49AE-B5FA-4D3A25EE1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7208" y="5016610"/>
            <a:ext cx="2194050" cy="106913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520CA4D1-48DD-72C9-418A-60DB23775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1C56DF-E672-81CB-40C3-140DA5EE1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764A5A2-3C66-C2BF-3B74-894F4C802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Appointment Table (Appointments Scheduling)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registered users can schedule appointments (linked via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Appointments can be scheduled only for properties with status = 'available'.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Seller/Agent can Accept or Reject the appointments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Offer Table (Offer Management)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users with Buyer and Agent roles can submit offers on properties.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Buyer/Agent can submit only one active offer per property.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an offer is accepted, all other offers on that property must be automatically rejected.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Payment Table (Payments and Transaction Flow)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 are allowed only for offers with status = ‘Hold'.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Upon successful payment, the property status must update to 'Sold'.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amount_paid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be validated to match the Seller accepted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offer_price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(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Favorites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Functionality)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registered users can mark properties as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property can be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once by the same user.</a:t>
            </a:r>
          </a:p>
        </p:txBody>
      </p:sp>
    </p:spTree>
    <p:extLst>
      <p:ext uri="{BB962C8B-B14F-4D97-AF65-F5344CB8AC3E}">
        <p14:creationId xmlns:p14="http://schemas.microsoft.com/office/powerpoint/2010/main" val="995136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07D3F3-0448-337F-0C84-A497F39A0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B603FA3-36C7-227D-4672-CA808543B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63AAD4D-6240-59A5-953D-A3F8C7D78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7208" y="5016610"/>
            <a:ext cx="2194050" cy="106913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E47F903-C9DD-5B1E-A482-B41155D54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E3FDE3-BD60-F2F6-36BE-B85101D1E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4CC04C1-A3D1-3A2E-A62D-59F913EDB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340553"/>
            <a:ext cx="10461171" cy="59794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Tickets Table (Support System / Help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ticket must be linked to a valid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status must be either 'Open' or 'Resolved’.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 ticket is resolved, a resolution message must be recorded in the resolution field.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Audit Log Table (Action Tracking and Monitoring)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action performed by a user must be recorded with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action_type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action_date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description.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via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which user performed the action.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description field must clearly explain the action taken (e.g., 'Offer submitted', 'Payment processed’).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Rental Contracts Table (Rental Management)</a:t>
            </a:r>
          </a:p>
          <a:p>
            <a:pPr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rental contract must reference a valid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one active rental contract is allowed per property at any given time.</a:t>
            </a:r>
          </a:p>
          <a:p>
            <a:pPr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deposit and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available_date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 valid.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Rental Interest Table (Rental Interest and Payment Status)</a:t>
            </a:r>
          </a:p>
          <a:p>
            <a:pPr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rental interest must be associated with a valid buyer and property.</a:t>
            </a:r>
          </a:p>
          <a:p>
            <a:pPr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status should be managed between 'Pending', 'Accepted', or 'Rejected'.</a:t>
            </a:r>
          </a:p>
          <a:p>
            <a:pPr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payment is completed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payment_status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'Paid’) and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property_status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=‘Sold’) and the property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will get displayed under his properties.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830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04D3D-800E-625A-5D5F-C0B05B4C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32F05AB-D693-71E4-C3CB-CBD415605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878" y="1000920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ERD DIAGRAM</a:t>
            </a:r>
          </a:p>
        </p:txBody>
      </p:sp>
      <p:pic>
        <p:nvPicPr>
          <p:cNvPr id="6" name="Content Placeholder 2">
            <a:extLst>
              <a:ext uri="{FF2B5EF4-FFF2-40B4-BE49-F238E27FC236}">
                <a16:creationId xmlns:a16="http://schemas.microsoft.com/office/drawing/2014/main" id="{1EBDD7F5-BF52-9318-8CFA-A8218157A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848" y="5446435"/>
            <a:ext cx="2094503" cy="102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92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C9F85-4ED9-61F1-597E-1E407039A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DCA8C43-B377-E399-1B83-0481871C8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BCEA0F-80C3-8DA0-EFD6-002A87BD9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C3AF0B-47DE-D2E7-A8A9-3267B4C4A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6230B1-1F97-24D6-CC4D-2E64CE69D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2" b="10232"/>
          <a:stretch/>
        </p:blipFill>
        <p:spPr>
          <a:xfrm>
            <a:off x="0" y="0"/>
            <a:ext cx="10906774" cy="6402100"/>
          </a:xfrm>
          <a:prstGeom prst="rect">
            <a:avLst/>
          </a:prstGeom>
        </p:spPr>
      </p:pic>
      <p:pic>
        <p:nvPicPr>
          <p:cNvPr id="14" name="Content Placeholder 2">
            <a:extLst>
              <a:ext uri="{FF2B5EF4-FFF2-40B4-BE49-F238E27FC236}">
                <a16:creationId xmlns:a16="http://schemas.microsoft.com/office/drawing/2014/main" id="{8F22ED7D-C370-3DCA-B390-2367D8E1D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2228" y="5605461"/>
            <a:ext cx="1394923" cy="67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36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939C1-3340-0386-BFF5-7FF5CB17B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B17343F-38F3-9D34-AA40-903134E0B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C0D1C9-65A9-1BB0-A794-8A424D2D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144E7E-229E-0034-84B1-6FE1730D8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CE2387-D5D4-2E97-9E82-C1E287122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C36231-ECAC-483F-9366-F8F547B17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19">
            <a:extLst>
              <a:ext uri="{FF2B5EF4-FFF2-40B4-BE49-F238E27FC236}">
                <a16:creationId xmlns:a16="http://schemas.microsoft.com/office/drawing/2014/main" id="{E652CD50-8348-7A3D-E98E-DD18AF463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35B7FA-3969-8486-3E48-E28093F4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878" y="1000920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6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endParaRPr lang="en-US" sz="6000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2">
            <a:extLst>
              <a:ext uri="{FF2B5EF4-FFF2-40B4-BE49-F238E27FC236}">
                <a16:creationId xmlns:a16="http://schemas.microsoft.com/office/drawing/2014/main" id="{5DF1B3B4-83AC-E207-A6E1-7925FFB65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848" y="5446435"/>
            <a:ext cx="2094503" cy="102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83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51EE6-C835-3DC6-E0D6-8078BD67B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0C74AF7-5415-943C-5DDF-919F2B96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C66B29-F5DA-9D0E-D248-DA0693A89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DDA6A7-C39F-D16F-DA67-7FE12D00F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Content Placeholder 2">
            <a:extLst>
              <a:ext uri="{FF2B5EF4-FFF2-40B4-BE49-F238E27FC236}">
                <a16:creationId xmlns:a16="http://schemas.microsoft.com/office/drawing/2014/main" id="{2E76EEB3-F3A0-515A-0882-82B02D655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2228" y="5605461"/>
            <a:ext cx="1394923" cy="679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3EFF4A-29BC-E047-177A-CC2094FAC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97" y="355002"/>
            <a:ext cx="9999135" cy="593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782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091D6-241C-0D68-893A-0D27C22DB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E847155-05B6-FE56-16E6-45489BF16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472CB3-C219-1BEA-253F-A8C98344E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B08A74-910A-C0C4-5616-E24CFEEEB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Content Placeholder 2">
            <a:extLst>
              <a:ext uri="{FF2B5EF4-FFF2-40B4-BE49-F238E27FC236}">
                <a16:creationId xmlns:a16="http://schemas.microsoft.com/office/drawing/2014/main" id="{A54D6582-36B7-E3E9-A9B8-8FA77F773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2228" y="5605461"/>
            <a:ext cx="1394923" cy="6797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2AA567-6764-7316-D506-DD57A5666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58" y="265042"/>
            <a:ext cx="9515738" cy="607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727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25E54-4612-6A6C-5527-15FED70B5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3A09752-2FAB-540F-1772-85079FF76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4F60C5-81F4-6598-CEFD-B278A0B4C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A9E573-09F6-F006-2B70-9DAB75B79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Content Placeholder 2">
            <a:extLst>
              <a:ext uri="{FF2B5EF4-FFF2-40B4-BE49-F238E27FC236}">
                <a16:creationId xmlns:a16="http://schemas.microsoft.com/office/drawing/2014/main" id="{405A88CA-1A29-7B34-EC39-7D136BA96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2228" y="5605461"/>
            <a:ext cx="1394923" cy="679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3E566F-80A3-D512-346A-AC0E7BE0F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52" y="534973"/>
            <a:ext cx="11172637" cy="453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18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29B64B-ECFA-978F-E628-F8B2F7B8722A}"/>
              </a:ext>
            </a:extLst>
          </p:cNvPr>
          <p:cNvSpPr txBox="1"/>
          <p:nvPr/>
        </p:nvSpPr>
        <p:spPr>
          <a:xfrm>
            <a:off x="998636" y="3242596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 YOU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8F083D0D-68D4-C70F-5546-232358672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  <p:pic>
        <p:nvPicPr>
          <p:cNvPr id="6" name="Content Placeholder 2">
            <a:extLst>
              <a:ext uri="{FF2B5EF4-FFF2-40B4-BE49-F238E27FC236}">
                <a16:creationId xmlns:a16="http://schemas.microsoft.com/office/drawing/2014/main" id="{150CC98D-48DB-07F8-FFF8-FC27BFA38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2228" y="5605461"/>
            <a:ext cx="1394923" cy="67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53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660</Words>
  <Application>Microsoft Macintosh PowerPoint</Application>
  <PresentationFormat>Widescreen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House Sales Management System  EDS6397 – Database Management Tools  Group - 1</vt:lpstr>
      <vt:lpstr>Our Team</vt:lpstr>
      <vt:lpstr>Introduction</vt:lpstr>
      <vt:lpstr>Business Rules </vt:lpstr>
      <vt:lpstr>PowerPoint Presentation</vt:lpstr>
      <vt:lpstr>PowerPoint Presentation</vt:lpstr>
      <vt:lpstr>ERD DIAGRAM</vt:lpstr>
      <vt:lpstr>PowerPoint Presentation</vt:lpstr>
      <vt:lpstr>Data Dictionary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shashank arjun</dc:creator>
  <cp:lastModifiedBy>S B, Adi Karthikeya</cp:lastModifiedBy>
  <cp:revision>5</cp:revision>
  <dcterms:created xsi:type="dcterms:W3CDTF">2025-04-28T04:53:18Z</dcterms:created>
  <dcterms:modified xsi:type="dcterms:W3CDTF">2025-04-28T09:15:03Z</dcterms:modified>
</cp:coreProperties>
</file>